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Montserrat Bold" charset="1" panose="00000800000000000000"/>
      <p:regular r:id="rId10"/>
    </p:embeddedFont>
    <p:embeddedFont>
      <p:font typeface="Lato" charset="1" panose="020F0502020204030203"/>
      <p:regular r:id="rId11"/>
    </p:embeddedFont>
    <p:embeddedFont>
      <p:font typeface="Lato Bold" charset="1" panose="020F05020202040302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VAHEqKmI-uk.mp4" Type="http://schemas.openxmlformats.org/officeDocument/2006/relationships/video"/><Relationship Id="rId4" Target="../media/VAHEqKmI-uk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76109" y="5522419"/>
            <a:ext cx="383191" cy="63944"/>
            <a:chOff x="0" y="0"/>
            <a:chExt cx="635000" cy="1059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" cy="105964"/>
            </a:xfrm>
            <a:custGeom>
              <a:avLst/>
              <a:gdLst/>
              <a:ahLst/>
              <a:cxnLst/>
              <a:rect r="r" b="b" t="t" l="l"/>
              <a:pathLst>
                <a:path h="105964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105964"/>
                  </a:lnTo>
                  <a:lnTo>
                    <a:pt x="0" y="1059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" cy="14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955223" y="-228600"/>
            <a:ext cx="20198445" cy="2023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51"/>
              </a:lnSpc>
              <a:spcBef>
                <a:spcPct val="0"/>
              </a:spcBef>
            </a:pPr>
            <a:r>
              <a:rPr lang="en-US" b="true" sz="11822" spc="-602">
                <a:solidFill>
                  <a:srgbClr val="0F11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Predictive Maintainence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032" y="1719007"/>
            <a:ext cx="17787936" cy="67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F1116"/>
                </a:solidFill>
                <a:latin typeface="Lato"/>
                <a:ea typeface="Lato"/>
                <a:cs typeface="Lato"/>
                <a:sym typeface="Lato"/>
              </a:rPr>
              <a:t>AI Powered Digital Twin For Smart Energy Monitoring And Anomaly Detection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97797" y="6924048"/>
            <a:ext cx="7492405" cy="213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2"/>
              </a:lnSpc>
            </a:pPr>
            <a:r>
              <a:rPr lang="en-US" b="true" sz="5773" spc="-230">
                <a:solidFill>
                  <a:srgbClr val="C1F53C"/>
                </a:solidFill>
                <a:latin typeface="Lato Bold"/>
                <a:ea typeface="Lato Bold"/>
                <a:cs typeface="Lato Bold"/>
                <a:sym typeface="Lato Bold"/>
              </a:rPr>
              <a:t>Team Number: 5</a:t>
            </a:r>
          </a:p>
          <a:p>
            <a:pPr algn="ctr">
              <a:lnSpc>
                <a:spcPts val="9093"/>
              </a:lnSpc>
              <a:spcBef>
                <a:spcPct val="0"/>
              </a:spcBef>
            </a:pPr>
            <a:r>
              <a:rPr lang="en-US" b="true" sz="6495" spc="-259">
                <a:solidFill>
                  <a:srgbClr val="C1F53C"/>
                </a:solidFill>
                <a:latin typeface="Lato Bold"/>
                <a:ea typeface="Lato Bold"/>
                <a:cs typeface="Lato Bold"/>
                <a:sym typeface="Lato Bold"/>
              </a:rPr>
              <a:t>STARLIGHTERS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032" y="9163050"/>
            <a:ext cx="18037968" cy="170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9"/>
              </a:lnSpc>
            </a:pPr>
            <a:r>
              <a:rPr lang="en-US" sz="4906" spc="-196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Ankit               Rhik Bhowmik               Devi               Arindam Choudhary</a:t>
            </a:r>
          </a:p>
          <a:p>
            <a:pPr algn="ctr">
              <a:lnSpc>
                <a:spcPts val="686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2930" y="1028700"/>
            <a:ext cx="5246370" cy="8229600"/>
            <a:chOff x="0" y="0"/>
            <a:chExt cx="812800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274980"/>
            </a:xfrm>
            <a:custGeom>
              <a:avLst/>
              <a:gdLst/>
              <a:ahLst/>
              <a:cxnLst/>
              <a:rect r="r" b="b" t="t" l="l"/>
              <a:pathLst>
                <a:path h="127498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67540" t="0" r="-6754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252128" y="7312478"/>
            <a:ext cx="4988792" cy="2803067"/>
          </a:xfrm>
          <a:custGeom>
            <a:avLst/>
            <a:gdLst/>
            <a:ahLst/>
            <a:cxnLst/>
            <a:rect r="r" b="b" t="t" l="l"/>
            <a:pathLst>
              <a:path h="2803067" w="4988792">
                <a:moveTo>
                  <a:pt x="0" y="0"/>
                </a:moveTo>
                <a:lnTo>
                  <a:pt x="4988792" y="0"/>
                </a:lnTo>
                <a:lnTo>
                  <a:pt x="4988792" y="2803067"/>
                </a:lnTo>
                <a:lnTo>
                  <a:pt x="0" y="2803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8988" y="7141031"/>
            <a:ext cx="3971130" cy="2974514"/>
          </a:xfrm>
          <a:custGeom>
            <a:avLst/>
            <a:gdLst/>
            <a:ahLst/>
            <a:cxnLst/>
            <a:rect r="r" b="b" t="t" l="l"/>
            <a:pathLst>
              <a:path h="2974514" w="3971130">
                <a:moveTo>
                  <a:pt x="0" y="0"/>
                </a:moveTo>
                <a:lnTo>
                  <a:pt x="3971130" y="0"/>
                </a:lnTo>
                <a:lnTo>
                  <a:pt x="3971130" y="2974514"/>
                </a:lnTo>
                <a:lnTo>
                  <a:pt x="0" y="2974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7463" y="1458239"/>
            <a:ext cx="15739258" cy="2002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8841" indent="-424420" lvl="1">
              <a:lnSpc>
                <a:spcPts val="3931"/>
              </a:lnSpc>
              <a:buAutoNum type="arabicPeriod" startAt="1"/>
            </a:pPr>
            <a:r>
              <a:rPr lang="en-US" sz="3931">
                <a:solidFill>
                  <a:srgbClr val="0F1116"/>
                </a:solidFill>
                <a:latin typeface="Lato"/>
                <a:ea typeface="Lato"/>
                <a:cs typeface="Lato"/>
                <a:sym typeface="Lato"/>
              </a:rPr>
              <a:t>Lack of real-time monitoring</a:t>
            </a:r>
          </a:p>
          <a:p>
            <a:pPr algn="l" marL="848841" indent="-424420" lvl="1">
              <a:lnSpc>
                <a:spcPts val="3931"/>
              </a:lnSpc>
              <a:buAutoNum type="arabicPeriod" startAt="1"/>
            </a:pPr>
            <a:r>
              <a:rPr lang="en-US" sz="3931">
                <a:solidFill>
                  <a:srgbClr val="0F1116"/>
                </a:solidFill>
                <a:latin typeface="Lato"/>
                <a:ea typeface="Lato"/>
                <a:cs typeface="Lato"/>
                <a:sym typeface="Lato"/>
              </a:rPr>
              <a:t>No Predictive Intelligence</a:t>
            </a:r>
          </a:p>
          <a:p>
            <a:pPr algn="l" marL="848841" indent="-424420" lvl="1">
              <a:lnSpc>
                <a:spcPts val="3931"/>
              </a:lnSpc>
              <a:buAutoNum type="arabicPeriod" startAt="1"/>
            </a:pPr>
            <a:r>
              <a:rPr lang="en-US" sz="3931">
                <a:solidFill>
                  <a:srgbClr val="0F1116"/>
                </a:solidFill>
                <a:latin typeface="Lato"/>
                <a:ea typeface="Lato"/>
                <a:cs typeface="Lato"/>
                <a:sym typeface="Lato"/>
              </a:rPr>
              <a:t>Multiple parameter integration</a:t>
            </a:r>
          </a:p>
          <a:p>
            <a:pPr algn="l" marL="848841" indent="-424420" lvl="1">
              <a:lnSpc>
                <a:spcPts val="3931"/>
              </a:lnSpc>
              <a:buAutoNum type="arabicPeriod" startAt="1"/>
            </a:pPr>
            <a:r>
              <a:rPr lang="en-US" sz="3931">
                <a:solidFill>
                  <a:srgbClr val="0F1116"/>
                </a:solidFill>
                <a:latin typeface="Lato"/>
                <a:ea typeface="Lato"/>
                <a:cs typeface="Lato"/>
                <a:sym typeface="Lato"/>
              </a:rPr>
              <a:t>Increased Maintanence costs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30680"/>
            <a:ext cx="2794020" cy="67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159">
                <a:solidFill>
                  <a:srgbClr val="0F1116"/>
                </a:solidFill>
                <a:latin typeface="Lato Bold"/>
                <a:ea typeface="Lato Bold"/>
                <a:cs typeface="Lato Bold"/>
                <a:sym typeface="Lato Bold"/>
              </a:rPr>
              <a:t>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14619"/>
            <a:ext cx="2465853" cy="67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159">
                <a:solidFill>
                  <a:srgbClr val="0F1116"/>
                </a:solidFill>
                <a:latin typeface="Lato Bold"/>
                <a:ea typeface="Lato Bold"/>
                <a:cs typeface="Lato Bold"/>
                <a:sym typeface="Lato Bold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7463" y="4560746"/>
            <a:ext cx="15739258" cy="249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8841" indent="-424420" lvl="1">
              <a:lnSpc>
                <a:spcPts val="3931"/>
              </a:lnSpc>
              <a:buAutoNum type="arabicPeriod" startAt="1"/>
            </a:pPr>
            <a:r>
              <a:rPr lang="en-US" sz="3931">
                <a:solidFill>
                  <a:srgbClr val="0F1116"/>
                </a:solidFill>
                <a:latin typeface="Lato"/>
                <a:ea typeface="Lato"/>
                <a:cs typeface="Lato"/>
                <a:sym typeface="Lato"/>
              </a:rPr>
              <a:t>Input of dataset from every panel</a:t>
            </a:r>
          </a:p>
          <a:p>
            <a:pPr algn="l" marL="848841" indent="-424420" lvl="1">
              <a:lnSpc>
                <a:spcPts val="3931"/>
              </a:lnSpc>
              <a:buAutoNum type="arabicPeriod" startAt="1"/>
            </a:pPr>
            <a:r>
              <a:rPr lang="en-US" sz="3931">
                <a:solidFill>
                  <a:srgbClr val="0F1116"/>
                </a:solidFill>
                <a:latin typeface="Lato"/>
                <a:ea typeface="Lato"/>
                <a:cs typeface="Lato"/>
                <a:sym typeface="Lato"/>
              </a:rPr>
              <a:t>Learning of model on dataset</a:t>
            </a:r>
          </a:p>
          <a:p>
            <a:pPr algn="l" marL="848841" indent="-424420" lvl="1">
              <a:lnSpc>
                <a:spcPts val="3931"/>
              </a:lnSpc>
              <a:buAutoNum type="arabicPeriod" startAt="1"/>
            </a:pPr>
            <a:r>
              <a:rPr lang="en-US" sz="3931">
                <a:solidFill>
                  <a:srgbClr val="0F1116"/>
                </a:solidFill>
                <a:latin typeface="Lato"/>
                <a:ea typeface="Lato"/>
                <a:cs typeface="Lato"/>
                <a:sym typeface="Lato"/>
              </a:rPr>
              <a:t>Real VS Predicted Comparision</a:t>
            </a:r>
          </a:p>
          <a:p>
            <a:pPr algn="l" marL="848841" indent="-424420" lvl="1">
              <a:lnSpc>
                <a:spcPts val="3931"/>
              </a:lnSpc>
              <a:buAutoNum type="arabicPeriod" startAt="1"/>
            </a:pPr>
            <a:r>
              <a:rPr lang="en-US" sz="3931">
                <a:solidFill>
                  <a:srgbClr val="0F1116"/>
                </a:solidFill>
                <a:latin typeface="Lato"/>
                <a:ea typeface="Lato"/>
                <a:cs typeface="Lato"/>
                <a:sym typeface="Lato"/>
              </a:rPr>
              <a:t>Anomaly Classification</a:t>
            </a:r>
          </a:p>
          <a:p>
            <a:pPr algn="l" marL="848841" indent="-424420" lvl="1">
              <a:lnSpc>
                <a:spcPts val="3931"/>
              </a:lnSpc>
              <a:buAutoNum type="arabicPeriod" startAt="1"/>
            </a:pPr>
            <a:r>
              <a:rPr lang="en-US" sz="3931">
                <a:solidFill>
                  <a:srgbClr val="0F1116"/>
                </a:solidFill>
                <a:latin typeface="Lato"/>
                <a:ea typeface="Lato"/>
                <a:cs typeface="Lato"/>
                <a:sym typeface="Lato"/>
              </a:rPr>
              <a:t>Interactive Dashboard For Real-time monitoring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519" y="1028700"/>
            <a:ext cx="14391752" cy="3099096"/>
          </a:xfrm>
          <a:custGeom>
            <a:avLst/>
            <a:gdLst/>
            <a:ahLst/>
            <a:cxnLst/>
            <a:rect r="r" b="b" t="t" l="l"/>
            <a:pathLst>
              <a:path h="3099096" w="14391752">
                <a:moveTo>
                  <a:pt x="0" y="0"/>
                </a:moveTo>
                <a:lnTo>
                  <a:pt x="14391752" y="0"/>
                </a:lnTo>
                <a:lnTo>
                  <a:pt x="14391752" y="3099096"/>
                </a:lnTo>
                <a:lnTo>
                  <a:pt x="0" y="309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330" t="0" r="-3533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69626" y="4461050"/>
            <a:ext cx="5806118" cy="6320726"/>
          </a:xfrm>
          <a:custGeom>
            <a:avLst/>
            <a:gdLst/>
            <a:ahLst/>
            <a:cxnLst/>
            <a:rect r="r" b="b" t="t" l="l"/>
            <a:pathLst>
              <a:path h="6320726" w="5806118">
                <a:moveTo>
                  <a:pt x="0" y="0"/>
                </a:moveTo>
                <a:lnTo>
                  <a:pt x="5806118" y="0"/>
                </a:lnTo>
                <a:lnTo>
                  <a:pt x="5806118" y="6320726"/>
                </a:lnTo>
                <a:lnTo>
                  <a:pt x="0" y="6320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136197" y="879385"/>
            <a:ext cx="23283442" cy="4568053"/>
          </a:xfrm>
          <a:custGeom>
            <a:avLst/>
            <a:gdLst/>
            <a:ahLst/>
            <a:cxnLst/>
            <a:rect r="r" b="b" t="t" l="l"/>
            <a:pathLst>
              <a:path h="4568053" w="23283442">
                <a:moveTo>
                  <a:pt x="0" y="0"/>
                </a:moveTo>
                <a:lnTo>
                  <a:pt x="23283442" y="0"/>
                </a:lnTo>
                <a:lnTo>
                  <a:pt x="23283442" y="4568053"/>
                </a:lnTo>
                <a:lnTo>
                  <a:pt x="0" y="4568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51" r="0" b="-355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7165" y="5035477"/>
            <a:ext cx="6384777" cy="5746299"/>
          </a:xfrm>
          <a:custGeom>
            <a:avLst/>
            <a:gdLst/>
            <a:ahLst/>
            <a:cxnLst/>
            <a:rect r="r" b="b" t="t" l="l"/>
            <a:pathLst>
              <a:path h="5746299" w="6384777">
                <a:moveTo>
                  <a:pt x="0" y="0"/>
                </a:moveTo>
                <a:lnTo>
                  <a:pt x="6384778" y="0"/>
                </a:lnTo>
                <a:lnTo>
                  <a:pt x="6384778" y="5746299"/>
                </a:lnTo>
                <a:lnTo>
                  <a:pt x="0" y="57462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7165" y="298450"/>
            <a:ext cx="10829761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0F11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FacebookProphet And LSTM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017" y="76509"/>
            <a:ext cx="18151983" cy="102104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DAHEpwbkgd0</dc:identifier>
  <dcterms:modified xsi:type="dcterms:W3CDTF">2011-08-01T06:04:30Z</dcterms:modified>
  <cp:revision>1</cp:revision>
  <dc:title>Solar Panel Predictive Maintainence</dc:title>
</cp:coreProperties>
</file>